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6728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42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964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07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41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54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606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6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68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03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15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6B1F335-DC45-4A01-A6AD-954F8C14DB73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AD407CF-9B48-44A5-889C-2CD8F8DFA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63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1AA3E-DD34-49BB-A003-859894D35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b="1" dirty="0">
                <a:solidFill>
                  <a:srgbClr val="F9FAFB"/>
                </a:solidFill>
                <a:effectLst/>
                <a:latin typeface="quote-cjk-patch"/>
              </a:rPr>
              <a:t>ОТЧЁТ ПО ПРОИЗВОДСТВЕННОЙ ПРАКТИКЕ</a:t>
            </a:r>
            <a:br>
              <a:rPr lang="ru-RU" sz="4800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4800" b="1" dirty="0">
                <a:solidFill>
                  <a:srgbClr val="F9FAFB"/>
                </a:solidFill>
                <a:effectLst/>
                <a:latin typeface="quote-cjk-patch"/>
              </a:rPr>
              <a:t>ПМ.02 «Осуществление интеграции программных модулей»</a:t>
            </a:r>
            <a:br>
              <a:rPr lang="ru-RU" sz="4800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27E5BA-A817-39EF-DF6C-E9D0D945D7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Студент: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Шишкин Артём Григорьевич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Группа: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23П-1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Руководитель: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Седов А.С.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Место практики: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КОГОБУ СШ пгт Вахруши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2026г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280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E1537-BE1F-1B13-3B87-D9EC2FB4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  <a:latin typeface="quote-cjk-patch"/>
              </a:rPr>
              <a:t>Цель и задачи практики</a:t>
            </a:r>
            <a:br>
              <a:rPr lang="ru-RU" b="1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EA9947-E1AA-ABFA-C08B-5C27D2704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Цель:</a:t>
            </a:r>
            <a:r>
              <a:rPr lang="ru-RU" b="0" i="0" dirty="0">
                <a:effectLst/>
                <a:latin typeface="quote-cjk-patch"/>
              </a:rPr>
              <a:t> разработать программный комплекс для учёта компьютерного оборудования в школе.</a:t>
            </a:r>
          </a:p>
          <a:p>
            <a:pPr algn="l"/>
            <a:r>
              <a:rPr lang="ru-RU" b="1" i="0" dirty="0">
                <a:effectLst/>
                <a:latin typeface="quote-cjk-patch"/>
              </a:rPr>
              <a:t>Задачи: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Проанализировать предметную область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Спроектировать базу данных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Разработать REST API и WPF-клиент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Выполнить интеграцию клиента с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Подготовить документацию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947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3F833-354E-83D7-5FEF-EF2AE9EA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  <a:latin typeface="quote-cjk-patch"/>
              </a:rPr>
              <a:t>Объект и рабочее место</a:t>
            </a:r>
            <a:br>
              <a:rPr lang="ru-RU" b="1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F41D3F-6233-39FA-031D-FB53ACF5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effectLst/>
                <a:latin typeface="quote-cjk-patch"/>
              </a:rPr>
              <a:t>Объект:</a:t>
            </a:r>
            <a:r>
              <a:rPr lang="ru-RU" b="0" i="0" dirty="0">
                <a:effectLst/>
                <a:latin typeface="quote-cjk-patch"/>
              </a:rPr>
              <a:t> КОГОБУ СШ пгт Вахруши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60 сотрудников, 40 учителей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45 компьютеров, 15 ноутбуков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3 компьютерных класса</a:t>
            </a:r>
          </a:p>
          <a:p>
            <a:r>
              <a:rPr lang="ru-RU" b="1" i="0" dirty="0">
                <a:effectLst/>
                <a:latin typeface="quote-cjk-patch"/>
              </a:rPr>
              <a:t>Рабочее место: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FDD44A3-7634-D2E3-2819-0AC06553C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773428"/>
              </p:ext>
            </p:extLst>
          </p:nvPr>
        </p:nvGraphicFramePr>
        <p:xfrm>
          <a:off x="1658847" y="4320857"/>
          <a:ext cx="7162800" cy="185928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114234364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1034512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Компонент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Характеристика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98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Процессор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Intel Core i3-7100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917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ОЗУ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ГБ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89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ОС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 10 Pro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138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10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E5252-2106-BCA2-D1CA-15971C44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93" y="365760"/>
            <a:ext cx="9692640" cy="1325562"/>
          </a:xfrm>
        </p:spPr>
        <p:txBody>
          <a:bodyPr/>
          <a:lstStyle/>
          <a:p>
            <a:r>
              <a:rPr lang="ru-RU" b="1" dirty="0">
                <a:effectLst/>
                <a:latin typeface="quote-cjk-patch"/>
              </a:rPr>
              <a:t>Технологический стек</a:t>
            </a:r>
            <a:br>
              <a:rPr lang="ru-RU" b="1" dirty="0"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CBBC6E6-05BD-7285-2D7E-9C9B612E0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646158"/>
              </p:ext>
            </p:extLst>
          </p:nvPr>
        </p:nvGraphicFramePr>
        <p:xfrm>
          <a:off x="1736486" y="2034540"/>
          <a:ext cx="7162800" cy="278892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304382217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484679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Компонент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Технология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11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СУБД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Microsoft SQL Server 2019 Express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79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Бэкенд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strike="noStrike">
                          <a:solidFill>
                            <a:srgbClr val="679EFE"/>
                          </a:solidFill>
                          <a:effectLst/>
                          <a:latin typeface="quote-cjk-patch"/>
                          <a:hlinkClick r:id="rId2"/>
                        </a:rPr>
                        <a:t>ASP.NET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Core 10, EF Core, JWT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2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Фронтенд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WPF (.NET Framework 4.8), MVVM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439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Тестирование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Postman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27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Система контроля версий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Git / GitHub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68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10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B6B8C-A9A7-A6DF-C4F0-34650983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  <a:latin typeface="quote-cjk-patch"/>
              </a:rPr>
              <a:t>ER-</a:t>
            </a:r>
            <a:r>
              <a:rPr lang="ru-RU" b="1" dirty="0">
                <a:effectLst/>
                <a:latin typeface="quote-cjk-patch"/>
              </a:rPr>
              <a:t>диаграмма базы данных</a:t>
            </a:r>
            <a:br>
              <a:rPr lang="ru-RU" b="1" dirty="0"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57183A-D6F2-2268-68B4-FF2AC9053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884" y="1110157"/>
            <a:ext cx="3799003" cy="57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9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0B2784-4DDF-B507-DD60-06C2FDE5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  <a:latin typeface="quote-cjk-patch"/>
              </a:rPr>
              <a:t>REST API (</a:t>
            </a:r>
            <a:r>
              <a:rPr lang="en-US" b="1" u="none" strike="noStrike" dirty="0">
                <a:effectLst/>
                <a:latin typeface="quote-cjk-patc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b="1" dirty="0">
                <a:effectLst/>
                <a:latin typeface="quote-cjk-patch"/>
              </a:rPr>
              <a:t> Core 10)</a:t>
            </a:r>
            <a:br>
              <a:rPr lang="en-US" b="1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F38F08-7675-BA00-1E19-2E6F34BD0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effectLst/>
                <a:latin typeface="quote-cjk-patch"/>
              </a:rPr>
              <a:t>Аутентификация:</a:t>
            </a:r>
            <a:r>
              <a:rPr lang="ru-RU" b="0" i="0" dirty="0">
                <a:effectLst/>
                <a:latin typeface="quote-cjk-patch"/>
              </a:rPr>
              <a:t> </a:t>
            </a:r>
            <a:r>
              <a:rPr lang="en-US" b="0" i="0" dirty="0">
                <a:effectLst/>
                <a:latin typeface="quote-cjk-patch"/>
              </a:rPr>
              <a:t>JWT Bearer Token</a:t>
            </a:r>
          </a:p>
          <a:p>
            <a:pPr algn="l"/>
            <a:r>
              <a:rPr lang="ru-RU" b="1" i="0" dirty="0">
                <a:effectLst/>
                <a:latin typeface="quote-cjk-patch"/>
              </a:rPr>
              <a:t>Ролевой доступ:</a:t>
            </a:r>
            <a:r>
              <a:rPr lang="ru-RU" b="0" i="0" dirty="0">
                <a:effectLst/>
                <a:latin typeface="quote-cjk-patch"/>
              </a:rPr>
              <a:t> </a:t>
            </a:r>
            <a:r>
              <a:rPr lang="en-US" b="0" i="0" dirty="0">
                <a:effectLst/>
                <a:latin typeface="quote-cjk-patch"/>
              </a:rPr>
              <a:t>Admin, Operator, Viewer</a:t>
            </a:r>
          </a:p>
          <a:p>
            <a:r>
              <a:rPr lang="ru-RU" b="1" i="0" dirty="0">
                <a:effectLst/>
                <a:latin typeface="quote-cjk-patch"/>
              </a:rPr>
              <a:t>Основные </a:t>
            </a:r>
            <a:r>
              <a:rPr lang="ru-RU" b="1" i="0" dirty="0" err="1">
                <a:effectLst/>
                <a:latin typeface="quote-cjk-patch"/>
              </a:rPr>
              <a:t>эндпоинты</a:t>
            </a:r>
            <a:r>
              <a:rPr lang="ru-RU" b="1" i="0" dirty="0">
                <a:effectLst/>
                <a:latin typeface="quote-cjk-patch"/>
              </a:rPr>
              <a:t>: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790A0F8-3A2C-F96F-5361-FE6FB8245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2146"/>
              </p:ext>
            </p:extLst>
          </p:nvPr>
        </p:nvGraphicFramePr>
        <p:xfrm>
          <a:off x="1469066" y="3291496"/>
          <a:ext cx="7162800" cy="2788920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189910503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255893097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688490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Метод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URL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Описание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3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POST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/api/Auth/login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Вход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8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CRUD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/api/Buildings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Здания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19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CRUD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/api/Classrooms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Кабинеты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34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CRUD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/api/EquipmentTypes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Типы оборудования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907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CRUD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/api/Equipment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Оборудование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3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51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CCD11-2DED-5CCF-9668-0DB7D685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  <a:latin typeface="quote-cjk-patch"/>
              </a:rPr>
              <a:t>Клиентское приложение (</a:t>
            </a:r>
            <a:r>
              <a:rPr lang="en-US" b="1" dirty="0">
                <a:effectLst/>
                <a:latin typeface="quote-cjk-patch"/>
              </a:rPr>
              <a:t>WPF)</a:t>
            </a:r>
            <a:br>
              <a:rPr lang="en-US" b="1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B84887-3278-FAE3-AAAB-E65957AEE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effectLst/>
                <a:latin typeface="quote-cjk-patch"/>
              </a:rPr>
              <a:t>Архитектура:</a:t>
            </a:r>
            <a:r>
              <a:rPr lang="ru-RU" b="0" i="0" dirty="0">
                <a:effectLst/>
                <a:latin typeface="quote-cjk-patch"/>
              </a:rPr>
              <a:t> </a:t>
            </a:r>
            <a:r>
              <a:rPr lang="en-US" b="0" i="0" dirty="0">
                <a:effectLst/>
                <a:latin typeface="quote-cjk-patch"/>
              </a:rPr>
              <a:t>MVVM</a:t>
            </a:r>
          </a:p>
          <a:p>
            <a:pPr algn="l"/>
            <a:r>
              <a:rPr lang="ru-RU" b="1" i="0" dirty="0">
                <a:effectLst/>
                <a:latin typeface="quote-cjk-patch"/>
              </a:rPr>
              <a:t>Окна:</a:t>
            </a:r>
            <a:r>
              <a:rPr lang="ru-RU" b="0" i="0" dirty="0">
                <a:effectLst/>
                <a:latin typeface="quote-cjk-patch"/>
              </a:rPr>
              <a:t> </a:t>
            </a:r>
            <a:r>
              <a:rPr lang="en-US" b="0" i="0" dirty="0" err="1">
                <a:effectLst/>
                <a:latin typeface="quote-cjk-patch"/>
              </a:rPr>
              <a:t>LoginWindow</a:t>
            </a:r>
            <a:r>
              <a:rPr lang="en-US" b="0" i="0" dirty="0">
                <a:effectLst/>
                <a:latin typeface="quote-cjk-patch"/>
              </a:rPr>
              <a:t>, </a:t>
            </a:r>
            <a:r>
              <a:rPr lang="en-US" b="0" i="0" dirty="0" err="1">
                <a:effectLst/>
                <a:latin typeface="quote-cjk-patch"/>
              </a:rPr>
              <a:t>MainWindow</a:t>
            </a:r>
            <a:r>
              <a:rPr lang="en-US" b="0" i="0" dirty="0">
                <a:effectLst/>
                <a:latin typeface="quote-cjk-patch"/>
              </a:rPr>
              <a:t>, 5 </a:t>
            </a:r>
            <a:r>
              <a:rPr lang="ru-RU" b="0" i="0" dirty="0">
                <a:effectLst/>
                <a:latin typeface="quote-cjk-patch"/>
              </a:rPr>
              <a:t>диалоговых окон</a:t>
            </a:r>
          </a:p>
          <a:p>
            <a:pPr algn="l"/>
            <a:r>
              <a:rPr lang="ru-RU" b="1" i="0" dirty="0">
                <a:effectLst/>
                <a:latin typeface="quote-cjk-patch"/>
              </a:rPr>
              <a:t>Главное окно: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Дерево: Здания → Кабинеты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Таблица: оборудование выбранного кабинета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Панель инструментов: CRUD операции</a:t>
            </a:r>
          </a:p>
          <a:p>
            <a:r>
              <a:rPr lang="ru-RU" b="1" i="0" dirty="0">
                <a:effectLst/>
                <a:latin typeface="quote-cjk-patch"/>
              </a:rPr>
              <a:t>Интеграция:</a:t>
            </a:r>
            <a:r>
              <a:rPr lang="ru-RU" b="0" i="0" dirty="0">
                <a:effectLst/>
                <a:latin typeface="quote-cjk-patch"/>
              </a:rPr>
              <a:t> </a:t>
            </a:r>
            <a:r>
              <a:rPr lang="ru-RU" b="0" i="0" dirty="0" err="1">
                <a:effectLst/>
                <a:latin typeface="quote-cjk-patch"/>
              </a:rPr>
              <a:t>ApiService</a:t>
            </a:r>
            <a:r>
              <a:rPr lang="ru-RU" b="0" i="0" dirty="0">
                <a:effectLst/>
                <a:latin typeface="quote-cjk-patch"/>
              </a:rPr>
              <a:t> → HTTP-запросы к API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549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88034-FAD2-9FAE-211F-C28F65E6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  <a:latin typeface="quote-cjk-patch"/>
              </a:rPr>
              <a:t>Итоги практики</a:t>
            </a:r>
            <a:br>
              <a:rPr lang="ru-RU" b="1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055279-9A1E-6992-8F25-D8B2FA87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effectLst/>
                <a:latin typeface="quote-cjk-patch"/>
              </a:rPr>
              <a:t>Разработано: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База данных (7 таблиц, 3НФ, 1000+ записей)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REST API (6 контроллеров, JWT-аутентификация)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WPF-клиент (MVVM, 7 окон)</a:t>
            </a:r>
          </a:p>
          <a:p>
            <a:pPr algn="l"/>
            <a:r>
              <a:rPr lang="ru-RU" b="1" i="0" dirty="0">
                <a:effectLst/>
                <a:latin typeface="quote-cjk-patch"/>
              </a:rPr>
              <a:t>Полученные навыки: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quote-cjk-patc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ru-RU" b="0" i="0" dirty="0">
                <a:effectLst/>
                <a:latin typeface="quote-cjk-patch"/>
              </a:rPr>
              <a:t> Core 10, EF Core, JWT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WPF, MVVM, </a:t>
            </a:r>
            <a:r>
              <a:rPr lang="ru-RU" b="0" i="0" dirty="0" err="1">
                <a:effectLst/>
                <a:latin typeface="quote-cjk-patch"/>
              </a:rPr>
              <a:t>HttpClient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Интеграция клиент-серверных приложений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Работа в условиях ограниченных ресурсов (6 ГБ ОЗУ)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898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D89F7-5AEE-F160-619C-9285B7B2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412" y="2766219"/>
            <a:ext cx="9692640" cy="1325562"/>
          </a:xfrm>
        </p:spPr>
        <p:txBody>
          <a:bodyPr/>
          <a:lstStyle/>
          <a:p>
            <a:r>
              <a:rPr lang="ru-RU" dirty="0"/>
              <a:t>Спасибо за внимание!!!!!!!!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2733272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Красный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15</TotalTime>
  <Words>331</Words>
  <Application>Microsoft Office PowerPoint</Application>
  <PresentationFormat>Широкоэкранный</PresentationFormat>
  <Paragraphs>83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Schoolbook</vt:lpstr>
      <vt:lpstr>quote-cjk-patch</vt:lpstr>
      <vt:lpstr>Wingdings 2</vt:lpstr>
      <vt:lpstr>Вид</vt:lpstr>
      <vt:lpstr>ОТЧЁТ ПО ПРОИЗВОДСТВЕННОЙ ПРАКТИКЕ ПМ.02 «Осуществление интеграции программных модулей» </vt:lpstr>
      <vt:lpstr>Цель и задачи практики </vt:lpstr>
      <vt:lpstr>Объект и рабочее место </vt:lpstr>
      <vt:lpstr>Технологический стек </vt:lpstr>
      <vt:lpstr>ER-диаграмма базы данных </vt:lpstr>
      <vt:lpstr>REST API (ASP.NET Core 10) </vt:lpstr>
      <vt:lpstr>Клиентское приложение (WPF) </vt:lpstr>
      <vt:lpstr>Итоги практики </vt:lpstr>
      <vt:lpstr>Спасибо за внимание!!!!!!!!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2026-08-14T13:55:18Z</dcterms:created>
  <dcterms:modified xsi:type="dcterms:W3CDTF">2026-08-14T14:10:19Z</dcterms:modified>
</cp:coreProperties>
</file>